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138928"/>
          </a:xfrm>
          <a:prstGeom prst="rect">
            <a:avLst/>
          </a:prstGeom>
          <a:solidFill>
            <a:srgbClr val="173B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138928"/>
            <a:ext cx="12191695" cy="1719072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10515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9EC4DD"/>
                </a:solidFill>
                <a:latin typeface="微软雅黑"/>
              </a:rPr>
              <a:t>软件系统分析与设计 · 课程实践作业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98448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FFFFFF"/>
                </a:solidFill>
                <a:latin typeface="微软雅黑"/>
              </a:rPr>
              <a:t>智能笔记助手 · 需求分析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4028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C7DDEC"/>
                </a:solidFill>
                <a:latin typeface="微软雅黑"/>
              </a:rPr>
              <a:t>业务对象识别　·　核心业务类图　·　关键流程时序图　·　模型一致性检查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926080"/>
            <a:ext cx="1371600" cy="45720"/>
          </a:xfrm>
          <a:prstGeom prst="rect">
            <a:avLst/>
          </a:prstGeom>
          <a:solidFill>
            <a:srgbClr val="9EC4D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1546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7DDEC"/>
                </a:solidFill>
                <a:latin typeface="微软雅黑"/>
              </a:rPr>
              <a:t>一次汇报讲清三件事：有哪些业务对象 · 它们怎么连 · 三条流程怎么走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94760"/>
            <a:ext cx="105156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第二小组（2 组）</a:t>
            </a:r>
            <a:r>
              <a:rPr sz="1350" b="0">
                <a:solidFill>
                  <a:srgbClr val="FFFFFF"/>
                </a:solidFill>
                <a:latin typeface="微软雅黑"/>
              </a:rPr>
              <a:t>　｜　郭谦　程禹轩　朱紫轩　廖欣豪　汪昊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9EC4DD"/>
                </a:solidFill>
                <a:latin typeface="微软雅黑"/>
              </a:rPr>
              <a:t>郭谦（组长）业务对象清单 · 类图 · 一致性检查　|　程禹轩 图 2　|　朱紫轩 图 3　|　廖欣豪 图 4　|　汪昊 报告 · PPT · AI 声明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EC4DD"/>
                </a:solidFill>
                <a:latin typeface="微软雅黑"/>
              </a:rPr>
              <a:t>汇报结构：对象识别 3 分钟 → 类图 4 分钟 → 三张时序图 4 分钟 → 一致性与结论 1 分钟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62356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C7DDEC"/>
                </a:solidFill>
                <a:latin typeface="微软雅黑"/>
              </a:rPr>
              <a:t>第二小组 汇报　|　2026 年 10 月 28 日　|　第 3～5 节　|　12 分钟汇报 + 3 分钟问答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118872"/>
            <a:ext cx="9509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FFFFFF"/>
                </a:solidFill>
                <a:latin typeface="微软雅黑"/>
              </a:rPr>
              <a:t>汇报结构：12 分钟怎么走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67512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C7DDEC"/>
                </a:solidFill>
                <a:latin typeface="微软雅黑"/>
              </a:rPr>
              <a:t>从对象到类图再到时序图，最后收口到一致性与下一步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256032"/>
            <a:ext cx="1005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6EA1C8"/>
                </a:solidFill>
                <a:latin typeface="微软雅黑"/>
              </a:rPr>
              <a:t>02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417320"/>
            <a:ext cx="2670048" cy="3246120"/>
          </a:xfrm>
          <a:prstGeom prst="rect">
            <a:avLst/>
          </a:prstGeom>
          <a:solidFill>
            <a:srgbClr val="EAF3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417320"/>
            <a:ext cx="2670048" cy="54864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1645920"/>
            <a:ext cx="2240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6EA1C8"/>
                </a:solidFill>
                <a:latin typeface="微软雅黑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2103120"/>
            <a:ext cx="2240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F4E78"/>
                </a:solidFill>
                <a:latin typeface="微软雅黑"/>
              </a:rPr>
              <a:t>业务对象识别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2468880"/>
            <a:ext cx="22402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595959"/>
                </a:solidFill>
                <a:latin typeface="微软雅黑"/>
              </a:rPr>
              <a:t>3 分钟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95959"/>
                </a:solidFill>
                <a:latin typeface="微软雅黑"/>
              </a:rPr>
              <a:t>主讲：郭谦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3063240"/>
            <a:ext cx="224028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F2937"/>
                </a:solidFill>
                <a:latin typeface="微软雅黑"/>
              </a:rPr>
              <a:t>24 个对象怎么找出来 · 五个簇怎么分组 · 边界在哪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4096512"/>
            <a:ext cx="2240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D97B2F"/>
                </a:solidFill>
                <a:latin typeface="微软雅黑"/>
              </a:rPr>
              <a:t>关键问题：为什么是这 24 个，不是别的？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64992" y="1417320"/>
            <a:ext cx="2670048" cy="3246120"/>
          </a:xfrm>
          <a:prstGeom prst="rect">
            <a:avLst/>
          </a:prstGeom>
          <a:solidFill>
            <a:srgbClr val="EAF3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64992" y="1417320"/>
            <a:ext cx="2670048" cy="54864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84448" y="1645920"/>
            <a:ext cx="2240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6EA1C8"/>
                </a:solidFill>
                <a:latin typeface="微软雅黑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84448" y="2103120"/>
            <a:ext cx="2240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F4E78"/>
                </a:solidFill>
                <a:latin typeface="微软雅黑"/>
              </a:rPr>
              <a:t>核心业务类图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84448" y="2468880"/>
            <a:ext cx="22402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595959"/>
                </a:solidFill>
                <a:latin typeface="微软雅黑"/>
              </a:rPr>
              <a:t>4 分钟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95959"/>
                </a:solidFill>
                <a:latin typeface="微软雅黑"/>
              </a:rPr>
              <a:t>主讲：郭谦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84448" y="3063240"/>
            <a:ext cx="224028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F2937"/>
                </a:solidFill>
                <a:latin typeface="微软雅黑"/>
              </a:rPr>
              <a:t>21 个类、五条关系主线 · 三个关键建模判断 · 三个刻意不入图的对象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84448" y="4096512"/>
            <a:ext cx="2240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D97B2F"/>
                </a:solidFill>
                <a:latin typeface="微软雅黑"/>
              </a:rPr>
              <a:t>关键问题：类之间为什么这样连？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63056" y="1417320"/>
            <a:ext cx="2670048" cy="3246120"/>
          </a:xfrm>
          <a:prstGeom prst="rect">
            <a:avLst/>
          </a:prstGeom>
          <a:solidFill>
            <a:srgbClr val="EAF3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63056" y="1417320"/>
            <a:ext cx="2670048" cy="54864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82512" y="1645920"/>
            <a:ext cx="2240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6EA1C8"/>
                </a:solidFill>
                <a:latin typeface="微软雅黑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82512" y="2103120"/>
            <a:ext cx="2240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F4E78"/>
                </a:solidFill>
                <a:latin typeface="微软雅黑"/>
              </a:rPr>
              <a:t>三张关键时序图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82512" y="2468880"/>
            <a:ext cx="22402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595959"/>
                </a:solidFill>
                <a:latin typeface="微软雅黑"/>
              </a:rPr>
              <a:t>4 分钟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95959"/>
                </a:solidFill>
                <a:latin typeface="微软雅黑"/>
              </a:rPr>
              <a:t>主讲：程禹轩 / 朱紫轩 / 廖欣豪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82512" y="3063240"/>
            <a:ext cx="224028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F2937"/>
                </a:solidFill>
                <a:latin typeface="微软雅黑"/>
              </a:rPr>
              <a:t>数据采集入库（图 2）· 门户认领审核（图 3）· 检索请求处理（图 4）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82512" y="4096512"/>
            <a:ext cx="2240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D97B2F"/>
                </a:solidFill>
                <a:latin typeface="微软雅黑"/>
              </a:rPr>
              <a:t>关键问题：每条流程什么时候才算真的结束？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961119" y="1417320"/>
            <a:ext cx="2670048" cy="3246120"/>
          </a:xfrm>
          <a:prstGeom prst="rect">
            <a:avLst/>
          </a:prstGeom>
          <a:solidFill>
            <a:srgbClr val="EAF3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961119" y="1417320"/>
            <a:ext cx="2670048" cy="54864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80576" y="1645920"/>
            <a:ext cx="2240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6EA1C8"/>
                </a:solidFill>
                <a:latin typeface="微软雅黑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0576" y="2103120"/>
            <a:ext cx="2240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F4E78"/>
                </a:solidFill>
                <a:latin typeface="微软雅黑"/>
              </a:rPr>
              <a:t>一致性与结论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80576" y="2468880"/>
            <a:ext cx="22402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595959"/>
                </a:solidFill>
                <a:latin typeface="微软雅黑"/>
              </a:rPr>
              <a:t>1 分钟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95959"/>
                </a:solidFill>
                <a:latin typeface="微软雅黑"/>
              </a:rPr>
              <a:t>主讲：汪昊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80576" y="3063240"/>
            <a:ext cx="224028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F2937"/>
                </a:solidFill>
                <a:latin typeface="微软雅黑"/>
              </a:rPr>
              <a:t>三向核对、9 处修正 · 本阶段结论 · 向设计阶段移交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80576" y="4096512"/>
            <a:ext cx="2240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D97B2F"/>
                </a:solidFill>
                <a:latin typeface="微软雅黑"/>
              </a:rPr>
              <a:t>关键问题：几个人并行，凭什么保证合得上？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6928" y="4983480"/>
            <a:ext cx="11064240" cy="54864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86384" y="4983480"/>
            <a:ext cx="106527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一句话主线：24 个业务对象　→　21 个核心业务类　→　3 条关键流程　→　9 处一致性修正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576072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95959"/>
                </a:solidFill>
                <a:latin typeface="微软雅黑"/>
              </a:rPr>
              <a:t>讲述原则：每张图只讲一条主线，不逐条念关系与消息；关键数字要说得出口（24 / 21 / 3 / 9）。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118872"/>
            <a:ext cx="9509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FFFFFF"/>
                </a:solidFill>
                <a:latin typeface="微软雅黑"/>
              </a:rPr>
              <a:t>业务对象识别：我们是怎么找的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67512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C7DDEC"/>
                </a:solidFill>
                <a:latin typeface="微软雅黑"/>
              </a:rPr>
              <a:t>不按页面、不按功能菜单，而按“业务上需要被长期管理的东西”来拆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256032"/>
            <a:ext cx="1005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6EA1C8"/>
                </a:solidFill>
                <a:latin typeface="微软雅黑"/>
              </a:rPr>
              <a:t>03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417320"/>
            <a:ext cx="5440680" cy="2880360"/>
          </a:xfrm>
          <a:prstGeom prst="rect">
            <a:avLst/>
          </a:prstGeom>
          <a:solidFill>
            <a:srgbClr val="EAF3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417320"/>
            <a:ext cx="54864" cy="28803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581912"/>
            <a:ext cx="4983480" cy="2596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F4E78"/>
                </a:solidFill>
                <a:latin typeface="微软雅黑"/>
              </a:rPr>
              <a:t>三个动作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1F2937"/>
                </a:solidFill>
                <a:latin typeface="微软雅黑"/>
              </a:rPr>
              <a:t>· </a:t>
            </a:r>
            <a:r>
              <a:rPr sz="1150" b="1">
                <a:solidFill>
                  <a:srgbClr val="1F2937"/>
                </a:solidFill>
                <a:latin typeface="微软雅黑"/>
              </a:rPr>
              <a:t>① 从流程倒推</a:t>
            </a:r>
            <a:r>
              <a:rPr sz="1150" b="0">
                <a:solidFill>
                  <a:srgbClr val="1F2937"/>
                </a:solidFill>
                <a:latin typeface="微软雅黑"/>
              </a:rPr>
              <a:t>：逐跳追问“这里被创建、被修改、被查询、被移交的是什么”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1F2937"/>
                </a:solidFill>
                <a:latin typeface="微软雅黑"/>
              </a:rPr>
              <a:t>· 入库流程里被创建的有：文档、文档版本、内容块、索引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1F2937"/>
                </a:solidFill>
                <a:latin typeface="微软雅黑"/>
              </a:rPr>
              <a:t>· 被追踪状态的有：解析任务、索引任务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1F2937"/>
                </a:solidFill>
                <a:latin typeface="微软雅黑"/>
              </a:rPr>
              <a:t>· </a:t>
            </a:r>
            <a:r>
              <a:rPr sz="1150" b="1">
                <a:solidFill>
                  <a:srgbClr val="1F2937"/>
                </a:solidFill>
                <a:latin typeface="微软雅黑"/>
              </a:rPr>
              <a:t>② 用上游正校</a:t>
            </a:r>
            <a:r>
              <a:rPr sz="1150" b="0">
                <a:solidFill>
                  <a:srgbClr val="1F2937"/>
                </a:solidFill>
                <a:latin typeface="微软雅黑"/>
              </a:rPr>
              <a:t>：对回 UC01–UC12、FR、BR、NFR 与领域模型，能被需求“认领”的才保留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1F2937"/>
                </a:solidFill>
                <a:latin typeface="微软雅黑"/>
              </a:rPr>
              <a:t>· </a:t>
            </a:r>
            <a:r>
              <a:rPr sz="1150" b="1">
                <a:solidFill>
                  <a:srgbClr val="1F2937"/>
                </a:solidFill>
                <a:latin typeface="微软雅黑"/>
              </a:rPr>
              <a:t>③ 排除交互制品</a:t>
            </a:r>
            <a:r>
              <a:rPr sz="1150" b="0">
                <a:solidFill>
                  <a:srgbClr val="1F2937"/>
                </a:solidFill>
                <a:latin typeface="微软雅黑"/>
              </a:rPr>
              <a:t>：界面、控制器、外部系统、角色细分不计入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1F2937"/>
                </a:solidFill>
                <a:latin typeface="微软雅黑"/>
              </a:rPr>
              <a:t>· </a:t>
            </a:r>
            <a:r>
              <a:rPr sz="1150" b="1">
                <a:solidFill>
                  <a:srgbClr val="1F2937"/>
                </a:solidFill>
                <a:latin typeface="微软雅黑"/>
              </a:rPr>
              <a:t>④ 任务类对象也算</a:t>
            </a:r>
            <a:r>
              <a:rPr sz="1150" b="0">
                <a:solidFill>
                  <a:srgbClr val="1F2937"/>
                </a:solidFill>
                <a:latin typeface="微软雅黑"/>
              </a:rPr>
              <a:t>：解析任务、索引任务是判定“入库成没成”的依据</a:t>
            </a:r>
          </a:p>
        </p:txBody>
      </p:sp>
      <p:sp>
        <p:nvSpPr>
          <p:cNvPr id="9" name="Rectangle 8"/>
          <p:cNvSpPr/>
          <p:nvPr/>
        </p:nvSpPr>
        <p:spPr>
          <a:xfrm>
            <a:off x="6199632" y="1417320"/>
            <a:ext cx="5440680" cy="2880360"/>
          </a:xfrm>
          <a:prstGeom prst="rect">
            <a:avLst/>
          </a:prstGeom>
          <a:solidFill>
            <a:srgbClr val="EAF3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99632" y="1417320"/>
            <a:ext cx="54864" cy="28803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37376" y="1581912"/>
            <a:ext cx="4983480" cy="2596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F4E78"/>
                </a:solidFill>
                <a:latin typeface="微软雅黑"/>
              </a:rPr>
              <a:t>最终得到 24 个对象、五个簇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1F2937"/>
                </a:solidFill>
                <a:latin typeface="微软雅黑"/>
              </a:rPr>
              <a:t>· </a:t>
            </a:r>
            <a:r>
              <a:rPr sz="1150" b="1">
                <a:solidFill>
                  <a:srgbClr val="1F2937"/>
                </a:solidFill>
                <a:latin typeface="微软雅黑"/>
              </a:rPr>
              <a:t>资源管理簇 6</a:t>
            </a:r>
            <a:r>
              <a:rPr sz="1150" b="0">
                <a:solidFill>
                  <a:srgbClr val="1F2937"/>
                </a:solidFill>
                <a:latin typeface="微软雅黑"/>
              </a:rPr>
              <a:t>：资料怎么被组织起来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1F2937"/>
                </a:solidFill>
                <a:latin typeface="微软雅黑"/>
              </a:rPr>
              <a:t>· </a:t>
            </a:r>
            <a:r>
              <a:rPr sz="1150" b="1">
                <a:solidFill>
                  <a:srgbClr val="1F2937"/>
                </a:solidFill>
                <a:latin typeface="微软雅黑"/>
              </a:rPr>
              <a:t>采集与索引簇 3</a:t>
            </a:r>
            <a:r>
              <a:rPr sz="1150" b="0">
                <a:solidFill>
                  <a:srgbClr val="1F2937"/>
                </a:solidFill>
                <a:latin typeface="微软雅黑"/>
              </a:rPr>
              <a:t>：资料进来后怎么变成可检索的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1F2937"/>
                </a:solidFill>
                <a:latin typeface="微软雅黑"/>
              </a:rPr>
              <a:t>· </a:t>
            </a:r>
            <a:r>
              <a:rPr sz="1150" b="1">
                <a:solidFill>
                  <a:srgbClr val="1F2937"/>
                </a:solidFill>
                <a:latin typeface="微软雅黑"/>
              </a:rPr>
              <a:t>检索与回答簇 6</a:t>
            </a:r>
            <a:r>
              <a:rPr sz="1150" b="0">
                <a:solidFill>
                  <a:srgbClr val="1F2937"/>
                </a:solidFill>
                <a:latin typeface="微软雅黑"/>
              </a:rPr>
              <a:t>：用户怎么问、系统怎么答、结论怎么留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1F2937"/>
                </a:solidFill>
                <a:latin typeface="微软雅黑"/>
              </a:rPr>
              <a:t>· </a:t>
            </a:r>
            <a:r>
              <a:rPr sz="1150" b="1">
                <a:solidFill>
                  <a:srgbClr val="1F2937"/>
                </a:solidFill>
                <a:latin typeface="微软雅黑"/>
              </a:rPr>
              <a:t>门户治理簇 4</a:t>
            </a:r>
            <a:r>
              <a:rPr sz="1150" b="0">
                <a:solidFill>
                  <a:srgbClr val="1F2937"/>
                </a:solidFill>
                <a:latin typeface="微软雅黑"/>
              </a:rPr>
              <a:t>：成果怎么被认领和审核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1F2937"/>
                </a:solidFill>
                <a:latin typeface="微软雅黑"/>
              </a:rPr>
              <a:t>· </a:t>
            </a:r>
            <a:r>
              <a:rPr sz="1150" b="1">
                <a:solidFill>
                  <a:srgbClr val="1F2937"/>
                </a:solidFill>
                <a:latin typeface="微软雅黑"/>
              </a:rPr>
              <a:t>规则与治理簇 2</a:t>
            </a:r>
            <a:r>
              <a:rPr sz="1150" b="0">
                <a:solidFill>
                  <a:srgbClr val="1F2937"/>
                </a:solidFill>
                <a:latin typeface="微软雅黑"/>
              </a:rPr>
              <a:t>：上面这些动作受什么约束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1F2937"/>
                </a:solidFill>
                <a:latin typeface="微软雅黑"/>
              </a:rPr>
              <a:t>· 编号 BO-01 ~ BO-24：报告、类图、三张时序图共用同一套编号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4709160"/>
            <a:ext cx="11064240" cy="502920"/>
          </a:xfrm>
          <a:prstGeom prst="rect">
            <a:avLst/>
          </a:prstGeom>
          <a:solidFill>
            <a:srgbClr val="EAF3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4709160"/>
            <a:ext cx="106527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4E78"/>
                </a:solidFill>
                <a:latin typeface="微软雅黑"/>
              </a:rPr>
              <a:t>21 个进核心类图；通知、审计事件、模型配置 3 个只作为跨流程支撑对象，出现在时序图与文档中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544068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95959"/>
                </a:solidFill>
                <a:latin typeface="微软雅黑"/>
              </a:rPr>
              <a:t>判据只有一条：业务上是否需要追踪它的状态、复用它的标识。界面与控制器随改版而变，不属于这一类。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118872"/>
            <a:ext cx="9509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FFFFFF"/>
                </a:solidFill>
                <a:latin typeface="微软雅黑"/>
              </a:rPr>
              <a:t>业务对象清单：24 个、五个簇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67512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C7DDEC"/>
                </a:solidFill>
                <a:latin typeface="微软雅黑"/>
              </a:rPr>
              <a:t>编号与名称以《01-业务对象清单》为唯一母版，报告表 1 与三张图共用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256032"/>
            <a:ext cx="1005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6EA1C8"/>
                </a:solidFill>
                <a:latin typeface="微软雅黑"/>
              </a:rPr>
              <a:t>04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417320"/>
            <a:ext cx="2103120" cy="3200400"/>
          </a:xfrm>
          <a:prstGeom prst="rect">
            <a:avLst/>
          </a:prstGeom>
          <a:solidFill>
            <a:srgbClr val="EAF3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417320"/>
            <a:ext cx="2103120" cy="475488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" y="1417320"/>
            <a:ext cx="1874519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微软雅黑"/>
              </a:rPr>
              <a:t>资源管理簇（6）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2029968"/>
            <a:ext cx="1874519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>
                <a:solidFill>
                  <a:srgbClr val="1F2937"/>
                </a:solidFill>
                <a:latin typeface="微软雅黑"/>
              </a:rPr>
              <a:t>用户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>
                <a:solidFill>
                  <a:srgbClr val="1F2937"/>
                </a:solidFill>
                <a:latin typeface="微软雅黑"/>
              </a:rPr>
              <a:t>工作区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>
                <a:solidFill>
                  <a:srgbClr val="1F2937"/>
                </a:solidFill>
                <a:latin typeface="微软雅黑"/>
              </a:rPr>
              <a:t>文档空间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>
                <a:solidFill>
                  <a:srgbClr val="1F2937"/>
                </a:solidFill>
                <a:latin typeface="微软雅黑"/>
              </a:rPr>
              <a:t>文档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>
                <a:solidFill>
                  <a:srgbClr val="1F2937"/>
                </a:solidFill>
                <a:latin typeface="微软雅黑"/>
              </a:rPr>
              <a:t>文档版本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>
                <a:solidFill>
                  <a:srgbClr val="1F2937"/>
                </a:solidFill>
                <a:latin typeface="微软雅黑"/>
              </a:rPr>
              <a:t>内容块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4023360"/>
            <a:ext cx="187451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95959"/>
                </a:solidFill>
                <a:latin typeface="微软雅黑"/>
              </a:rPr>
              <a:t>资料是怎么被组织起来的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16352" y="1417320"/>
            <a:ext cx="2103120" cy="3200400"/>
          </a:xfrm>
          <a:prstGeom prst="rect">
            <a:avLst/>
          </a:prstGeom>
          <a:solidFill>
            <a:srgbClr val="EAF3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816352" y="1417320"/>
            <a:ext cx="2103120" cy="475488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44368" y="1417320"/>
            <a:ext cx="1874519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微软雅黑"/>
              </a:rPr>
              <a:t>采集与索引簇（3）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44368" y="2029968"/>
            <a:ext cx="1874519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>
                <a:solidFill>
                  <a:srgbClr val="1F2937"/>
                </a:solidFill>
                <a:latin typeface="微软雅黑"/>
              </a:rPr>
              <a:t>解析任务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>
                <a:solidFill>
                  <a:srgbClr val="1F2937"/>
                </a:solidFill>
                <a:latin typeface="微软雅黑"/>
              </a:rPr>
              <a:t>索引任务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>
                <a:solidFill>
                  <a:srgbClr val="1F2937"/>
                </a:solidFill>
                <a:latin typeface="微软雅黑"/>
              </a:rPr>
              <a:t>索引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44368" y="4023360"/>
            <a:ext cx="187451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95959"/>
                </a:solidFill>
                <a:latin typeface="微软雅黑"/>
              </a:rPr>
              <a:t>资料进来后怎么变成可检索的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65776" y="1417320"/>
            <a:ext cx="2103120" cy="3200400"/>
          </a:xfrm>
          <a:prstGeom prst="rect">
            <a:avLst/>
          </a:prstGeom>
          <a:solidFill>
            <a:srgbClr val="EAF3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65776" y="1417320"/>
            <a:ext cx="2103120" cy="475488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93792" y="1417320"/>
            <a:ext cx="1874519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微软雅黑"/>
              </a:rPr>
              <a:t>检索与回答簇（6）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93792" y="2029968"/>
            <a:ext cx="1874519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>
                <a:solidFill>
                  <a:srgbClr val="1F2937"/>
                </a:solidFill>
                <a:latin typeface="微软雅黑"/>
              </a:rPr>
              <a:t>检索请求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>
                <a:solidFill>
                  <a:srgbClr val="1F2937"/>
                </a:solidFill>
                <a:latin typeface="微软雅黑"/>
              </a:rPr>
              <a:t>文档集合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>
                <a:solidFill>
                  <a:srgbClr val="1F2937"/>
                </a:solidFill>
                <a:latin typeface="微软雅黑"/>
              </a:rPr>
              <a:t>证据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>
                <a:solidFill>
                  <a:srgbClr val="1F2937"/>
                </a:solidFill>
                <a:latin typeface="微软雅黑"/>
              </a:rPr>
              <a:t>回答结果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>
                <a:solidFill>
                  <a:srgbClr val="1F2937"/>
                </a:solidFill>
                <a:latin typeface="微软雅黑"/>
              </a:rPr>
              <a:t>引用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>
                <a:solidFill>
                  <a:srgbClr val="1F2937"/>
                </a:solidFill>
                <a:latin typeface="微软雅黑"/>
              </a:rPr>
              <a:t>笔记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93792" y="4023360"/>
            <a:ext cx="187451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95959"/>
                </a:solidFill>
                <a:latin typeface="微软雅黑"/>
              </a:rPr>
              <a:t>怎么问、怎么答、结论怎么留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0" y="1417320"/>
            <a:ext cx="2103120" cy="3200400"/>
          </a:xfrm>
          <a:prstGeom prst="rect">
            <a:avLst/>
          </a:prstGeom>
          <a:solidFill>
            <a:srgbClr val="EAF3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0" y="1417320"/>
            <a:ext cx="2103120" cy="475488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43216" y="1417320"/>
            <a:ext cx="1874519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微软雅黑"/>
              </a:rPr>
              <a:t>门户治理簇（4）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43216" y="2029968"/>
            <a:ext cx="1874519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>
                <a:solidFill>
                  <a:srgbClr val="1F2937"/>
                </a:solidFill>
                <a:latin typeface="微软雅黑"/>
              </a:rPr>
              <a:t>门户条目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>
                <a:solidFill>
                  <a:srgbClr val="1F2937"/>
                </a:solidFill>
                <a:latin typeface="微软雅黑"/>
              </a:rPr>
              <a:t>认领申请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>
                <a:solidFill>
                  <a:srgbClr val="1F2937"/>
                </a:solidFill>
                <a:latin typeface="微软雅黑"/>
              </a:rPr>
              <a:t>审核任务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>
                <a:solidFill>
                  <a:srgbClr val="1F2937"/>
                </a:solidFill>
                <a:latin typeface="微软雅黑"/>
              </a:rPr>
              <a:t>审核结论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43216" y="4023360"/>
            <a:ext cx="187451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95959"/>
                </a:solidFill>
                <a:latin typeface="微软雅黑"/>
              </a:rPr>
              <a:t>成果怎么被认领和审核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564624" y="1417320"/>
            <a:ext cx="2103120" cy="3200400"/>
          </a:xfrm>
          <a:prstGeom prst="rect">
            <a:avLst/>
          </a:prstGeom>
          <a:solidFill>
            <a:srgbClr val="EAF3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564624" y="1417320"/>
            <a:ext cx="2103120" cy="475488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92640" y="1417320"/>
            <a:ext cx="1874519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微软雅黑"/>
              </a:rPr>
              <a:t>规则与治理簇（2）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92640" y="2029968"/>
            <a:ext cx="1874519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>
                <a:solidFill>
                  <a:srgbClr val="1F2937"/>
                </a:solidFill>
                <a:latin typeface="微软雅黑"/>
              </a:rPr>
              <a:t>权限规则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>
                <a:solidFill>
                  <a:srgbClr val="1F2937"/>
                </a:solidFill>
                <a:latin typeface="微软雅黑"/>
              </a:rPr>
              <a:t>策略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92640" y="4023360"/>
            <a:ext cx="187451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95959"/>
                </a:solidFill>
                <a:latin typeface="微软雅黑"/>
              </a:rPr>
              <a:t>上面的动作受什么约束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475488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F2937"/>
                </a:solidFill>
                <a:latin typeface="微软雅黑"/>
              </a:rPr>
              <a:t>边界约定</a:t>
            </a:r>
            <a:r>
              <a:rPr sz="1050" b="0">
                <a:solidFill>
                  <a:srgbClr val="1F2937"/>
                </a:solidFill>
                <a:latin typeface="微软雅黑"/>
              </a:rPr>
              <a:t>：界面与控制器（ClientUI / SearchUI / IC / CC / RC / SC）、外部系统（授权模型服务）、角色细分（作者 / 审核人 / 管理员）都不进业务对象清单，也不进类图。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5193792"/>
            <a:ext cx="11064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95959"/>
                </a:solidFill>
                <a:latin typeface="微软雅黑"/>
              </a:rPr>
              <a:t>其中门户治理簇 4 个对象为本阶段新增识别：需求建模 V0.3 未覆盖该域，已在表 1“识别依据”列显式标注，并列入遗留项。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6928" y="5760720"/>
            <a:ext cx="11064240" cy="50292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6384" y="5760720"/>
            <a:ext cx="106527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微软雅黑"/>
              </a:rPr>
              <a:t>清单即母版：报告表 1、图 1、图 2–图 4 必须同名同号，图上不许出现清单以外的名字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118872"/>
            <a:ext cx="9509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FFFFFF"/>
                </a:solidFill>
                <a:latin typeface="微软雅黑"/>
              </a:rPr>
              <a:t>核心业务类图（图 1）：21 个类、五条主线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67512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C7DDEC"/>
                </a:solidFill>
                <a:latin typeface="微软雅黑"/>
              </a:rPr>
              <a:t>按 package 分簇，三条流程的对象都能在同一张图上被圈出来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256032"/>
            <a:ext cx="1005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6EA1C8"/>
                </a:solidFill>
                <a:latin typeface="微软雅黑"/>
              </a:rPr>
              <a:t>05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371600"/>
            <a:ext cx="7360920" cy="2377440"/>
          </a:xfrm>
          <a:prstGeom prst="rect">
            <a:avLst/>
          </a:prstGeom>
          <a:solidFill>
            <a:srgbClr val="EAF3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371600"/>
            <a:ext cx="54864" cy="237744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536192"/>
            <a:ext cx="6903720" cy="2093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F4E78"/>
                </a:solidFill>
                <a:latin typeface="微软雅黑"/>
              </a:rPr>
              <a:t>五条关系主线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1F2937"/>
                </a:solidFill>
                <a:latin typeface="微软雅黑"/>
              </a:rPr>
              <a:t>· </a:t>
            </a:r>
            <a:r>
              <a:rPr sz="1100" b="1">
                <a:solidFill>
                  <a:srgbClr val="1F2937"/>
                </a:solidFill>
                <a:latin typeface="微软雅黑"/>
              </a:rPr>
              <a:t>① 资源管理</a:t>
            </a:r>
            <a:r>
              <a:rPr sz="1100" b="0">
                <a:solidFill>
                  <a:srgbClr val="1F2937"/>
                </a:solidFill>
                <a:latin typeface="微软雅黑"/>
              </a:rPr>
              <a:t>：用户—工作区—文档空间—文档—文档版本—内容块；文档与版本是</a:t>
            </a:r>
            <a:r>
              <a:rPr sz="1100" b="1">
                <a:solidFill>
                  <a:srgbClr val="1F2937"/>
                </a:solidFill>
                <a:latin typeface="微软雅黑"/>
              </a:rPr>
              <a:t>组合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1F2937"/>
                </a:solidFill>
                <a:latin typeface="微软雅黑"/>
              </a:rPr>
              <a:t>· </a:t>
            </a:r>
            <a:r>
              <a:rPr sz="1100" b="1">
                <a:solidFill>
                  <a:srgbClr val="1F2937"/>
                </a:solidFill>
                <a:latin typeface="微软雅黑"/>
              </a:rPr>
              <a:t>② 采集与索引</a:t>
            </a:r>
            <a:r>
              <a:rPr sz="1100" b="0">
                <a:solidFill>
                  <a:srgbClr val="1F2937"/>
                </a:solidFill>
                <a:latin typeface="微软雅黑"/>
              </a:rPr>
              <a:t>：文档版本触发解析任务 / 索引任务，最终产出索引（v0.2 特意补入）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1F2937"/>
                </a:solidFill>
                <a:latin typeface="微软雅黑"/>
              </a:rPr>
              <a:t>· </a:t>
            </a:r>
            <a:r>
              <a:rPr sz="1100" b="1">
                <a:solidFill>
                  <a:srgbClr val="1F2937"/>
                </a:solidFill>
                <a:latin typeface="微软雅黑"/>
              </a:rPr>
              <a:t>③ 检索与回答</a:t>
            </a:r>
            <a:r>
              <a:rPr sz="1100" b="0">
                <a:solidFill>
                  <a:srgbClr val="1F2937"/>
                </a:solidFill>
                <a:latin typeface="微软雅黑"/>
              </a:rPr>
              <a:t>：检索请求决定范围（文档集合），证据→回答→引用→笔记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1F2937"/>
                </a:solidFill>
                <a:latin typeface="微软雅黑"/>
              </a:rPr>
              <a:t>· </a:t>
            </a:r>
            <a:r>
              <a:rPr sz="1100" b="1">
                <a:solidFill>
                  <a:srgbClr val="1F2937"/>
                </a:solidFill>
                <a:latin typeface="微软雅黑"/>
              </a:rPr>
              <a:t>④ 门户治理</a:t>
            </a:r>
            <a:r>
              <a:rPr sz="1100" b="0">
                <a:solidFill>
                  <a:srgbClr val="1F2937"/>
                </a:solidFill>
                <a:latin typeface="微软雅黑"/>
              </a:rPr>
              <a:t>：门户条目—认领申请—审核任务—审核结论，结论再回写归属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1F2937"/>
                </a:solidFill>
                <a:latin typeface="微软雅黑"/>
              </a:rPr>
              <a:t>· </a:t>
            </a:r>
            <a:r>
              <a:rPr sz="1100" b="1">
                <a:solidFill>
                  <a:srgbClr val="1F2937"/>
                </a:solidFill>
                <a:latin typeface="微软雅黑"/>
              </a:rPr>
              <a:t>⑤ 规则与治理</a:t>
            </a:r>
            <a:r>
              <a:rPr sz="1100" b="0">
                <a:solidFill>
                  <a:srgbClr val="1F2937"/>
                </a:solidFill>
                <a:latin typeface="微软雅黑"/>
              </a:rPr>
              <a:t>：权限规则、策略以依赖方式约束上面四条线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3977639"/>
            <a:ext cx="1737360" cy="868680"/>
          </a:xfrm>
          <a:prstGeom prst="rect">
            <a:avLst/>
          </a:prstGeom>
          <a:solidFill>
            <a:srgbClr val="EAF3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" y="4069079"/>
            <a:ext cx="1517904" cy="73151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F4E78"/>
                </a:solidFill>
                <a:latin typeface="微软雅黑"/>
              </a:rPr>
              <a:t>21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95959"/>
                </a:solidFill>
                <a:latin typeface="微软雅黑"/>
              </a:rPr>
              <a:t>业务类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41448" y="3977639"/>
            <a:ext cx="1737360" cy="868680"/>
          </a:xfrm>
          <a:prstGeom prst="rect">
            <a:avLst/>
          </a:prstGeom>
          <a:solidFill>
            <a:srgbClr val="EAF3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51176" y="4069079"/>
            <a:ext cx="1517904" cy="73151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F4E78"/>
                </a:solidFill>
                <a:latin typeface="微软雅黑"/>
              </a:rPr>
              <a:t>5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95959"/>
                </a:solidFill>
                <a:latin typeface="微软雅黑"/>
              </a:rPr>
              <a:t>个簇（package）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15968" y="3977639"/>
            <a:ext cx="1737360" cy="868680"/>
          </a:xfrm>
          <a:prstGeom prst="rect">
            <a:avLst/>
          </a:prstGeom>
          <a:solidFill>
            <a:srgbClr val="EAF3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25696" y="4069079"/>
            <a:ext cx="1517904" cy="73151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F4E78"/>
                </a:solidFill>
                <a:latin typeface="微软雅黑"/>
              </a:rPr>
              <a:t>3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95959"/>
                </a:solidFill>
                <a:latin typeface="微软雅黑"/>
              </a:rPr>
              <a:t>条关键流程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0488" y="3977639"/>
            <a:ext cx="1737360" cy="868680"/>
          </a:xfrm>
          <a:prstGeom prst="rect">
            <a:avLst/>
          </a:prstGeom>
          <a:solidFill>
            <a:srgbClr val="EAF3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0216" y="4069079"/>
            <a:ext cx="1517904" cy="73151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F4E78"/>
                </a:solidFill>
                <a:latin typeface="微软雅黑"/>
              </a:rPr>
              <a:t>3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95959"/>
                </a:solidFill>
                <a:latin typeface="微软雅黑"/>
              </a:rPr>
              <a:t>个刻意不入图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5074920"/>
            <a:ext cx="7360920" cy="50292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" y="5074920"/>
            <a:ext cx="69494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微软雅黑"/>
              </a:rPr>
              <a:t>读图提示：按包边界走——左资源、中采集索引、右检索与门户，规则与治理用虚线依赖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5760720"/>
            <a:ext cx="7360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95959"/>
                </a:solidFill>
                <a:latin typeface="微软雅黑"/>
              </a:rPr>
              <a:t>图号：图 1　|　源文件：核心业务类图-v0.2.puml　|　导出件同名 .png，随仓库提交</a:t>
            </a:r>
          </a:p>
        </p:txBody>
      </p:sp>
      <p:pic>
        <p:nvPicPr>
          <p:cNvPr id="20" name="Picture 19" descr="核心业务类图-v0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1761" y="1280160"/>
            <a:ext cx="3061837" cy="52578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092440" y="6510528"/>
            <a:ext cx="38404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95959"/>
                </a:solidFill>
                <a:latin typeface="微软雅黑"/>
              </a:rPr>
              <a:t>图 1　核心业务类图 v0.2（定稿）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118872"/>
            <a:ext cx="9509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FFFFFF"/>
                </a:solidFill>
                <a:latin typeface="微软雅黑"/>
              </a:rPr>
              <a:t>类图里最值得讲的三处判断（以及三个“没画”的对象）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67512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C7DDEC"/>
                </a:solidFill>
                <a:latin typeface="微软雅黑"/>
              </a:rPr>
              <a:t>连线谁都会画，能讲清“为什么不那样画”才说明建模做过判断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256032"/>
            <a:ext cx="1005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6EA1C8"/>
                </a:solidFill>
                <a:latin typeface="微软雅黑"/>
              </a:rPr>
              <a:t>06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417320"/>
            <a:ext cx="3529584" cy="2788920"/>
          </a:xfrm>
          <a:prstGeom prst="rect">
            <a:avLst/>
          </a:prstGeom>
          <a:solidFill>
            <a:srgbClr val="EAF3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417320"/>
            <a:ext cx="3529584" cy="54864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1645920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>
                <a:solidFill>
                  <a:srgbClr val="1F4E78"/>
                </a:solidFill>
                <a:latin typeface="微软雅黑"/>
              </a:rPr>
              <a:t>引用独立成类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1975104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D97B2F"/>
                </a:solidFill>
                <a:latin typeface="微软雅黑"/>
              </a:rPr>
              <a:t>不做成回答结果的字段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2304288"/>
            <a:ext cx="310896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微软雅黑"/>
              </a:rPr>
              <a:t>引用要能独立定位到某个内容块、独立失效、独立复核；一个字符串字段承载不了“哪一版、哪一段、现在还在不在”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79392" y="1417320"/>
            <a:ext cx="3529584" cy="2788920"/>
          </a:xfrm>
          <a:prstGeom prst="rect">
            <a:avLst/>
          </a:prstGeom>
          <a:solidFill>
            <a:srgbClr val="EAF3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79392" y="1417320"/>
            <a:ext cx="3529584" cy="54864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98848" y="1645920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>
                <a:solidFill>
                  <a:srgbClr val="1F4E78"/>
                </a:solidFill>
                <a:latin typeface="微软雅黑"/>
              </a:rPr>
              <a:t>文档与版本是组合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8848" y="1975104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D97B2F"/>
                </a:solidFill>
                <a:latin typeface="微软雅黑"/>
              </a:rPr>
              <a:t>不是普通关联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8848" y="2304288"/>
            <a:ext cx="310896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微软雅黑"/>
              </a:rPr>
              <a:t>版本离开文档没有独立存在的意义；文档删除或撤权时，版本与其索引要一并处理，失效才能沿版本传播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91855" y="1417320"/>
            <a:ext cx="3529584" cy="2788920"/>
          </a:xfrm>
          <a:prstGeom prst="rect">
            <a:avLst/>
          </a:prstGeom>
          <a:solidFill>
            <a:srgbClr val="EAF3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91855" y="1417320"/>
            <a:ext cx="3529584" cy="54864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11311" y="1645920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>
                <a:solidFill>
                  <a:srgbClr val="1F4E78"/>
                </a:solidFill>
                <a:latin typeface="微软雅黑"/>
              </a:rPr>
              <a:t>索引独立成类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11311" y="1975104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D97B2F"/>
                </a:solidFill>
                <a:latin typeface="微软雅黑"/>
              </a:rPr>
              <a:t>不挂在文档上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11311" y="2304288"/>
            <a:ext cx="310896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微软雅黑"/>
              </a:rPr>
              <a:t>检索能力可以独立建立、独立失败、独立降级；正因为独立，索引失败时才能“允许阅读、限制检索”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4407408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F2937"/>
                </a:solidFill>
                <a:latin typeface="微软雅黑"/>
              </a:rPr>
              <a:t>同时，有三个对象是</a:t>
            </a:r>
            <a:r>
              <a:rPr sz="1250" b="1">
                <a:solidFill>
                  <a:srgbClr val="1F2937"/>
                </a:solidFill>
                <a:latin typeface="微软雅黑"/>
              </a:rPr>
              <a:t>刻意没画</a:t>
            </a:r>
            <a:r>
              <a:rPr sz="1250" b="0">
                <a:solidFill>
                  <a:srgbClr val="1F2937"/>
                </a:solidFill>
                <a:latin typeface="微软雅黑"/>
              </a:rPr>
              <a:t>进类图的：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4800600"/>
            <a:ext cx="3529584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4892040"/>
            <a:ext cx="3163824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F4E78"/>
                </a:solidFill>
                <a:latin typeface="微软雅黑"/>
              </a:rPr>
              <a:t>通知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95959"/>
                </a:solidFill>
                <a:latin typeface="微软雅黑"/>
              </a:rPr>
              <a:t>跨流程边界对象，三条流程都要用，但不入静态结构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79392" y="4800600"/>
            <a:ext cx="3529584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62272" y="4892040"/>
            <a:ext cx="3163824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F4E78"/>
                </a:solidFill>
                <a:latin typeface="微软雅黑"/>
              </a:rPr>
              <a:t>审计事件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95959"/>
                </a:solidFill>
                <a:latin typeface="微软雅黑"/>
              </a:rPr>
              <a:t>本轮不建模，只在文档说明 BR02 / BR12 的可追溯要求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991855" y="4800600"/>
            <a:ext cx="3529584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74735" y="4892040"/>
            <a:ext cx="3163824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F4E78"/>
                </a:solidFill>
                <a:latin typeface="微软雅黑"/>
              </a:rPr>
              <a:t>模型配置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95959"/>
                </a:solidFill>
                <a:latin typeface="微软雅黑"/>
              </a:rPr>
              <a:t>配置类对象，与外部“授权模型服务”不是一回事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585216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95959"/>
                </a:solidFill>
                <a:latin typeface="微软雅黑"/>
              </a:rPr>
              <a:t>答辩口径：被问“类图里为什么没有界面/控制器”时，答“本阶段类图只登记业务实体，交互制品只出现在时序图，约定见一致性检查表 §4”。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118872"/>
            <a:ext cx="9509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FFFFFF"/>
                </a:solidFill>
                <a:latin typeface="微软雅黑"/>
              </a:rPr>
              <a:t>图 2｜数据采集入库：导入成功 ≠ 入库完成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67512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C7DDEC"/>
                </a:solidFill>
                <a:latin typeface="微软雅黑"/>
              </a:rPr>
              <a:t>文件上传只是开始，必须等解析与索引都完成、索引进入“可用”，才算真正入库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256032"/>
            <a:ext cx="1005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6EA1C8"/>
                </a:solidFill>
                <a:latin typeface="微软雅黑"/>
              </a:rPr>
              <a:t>07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371600"/>
            <a:ext cx="7178040" cy="1691640"/>
          </a:xfrm>
          <a:prstGeom prst="rect">
            <a:avLst/>
          </a:prstGeom>
          <a:solidFill>
            <a:srgbClr val="EAF3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371600"/>
            <a:ext cx="54864" cy="169164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536192"/>
            <a:ext cx="6720840" cy="1408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F4E78"/>
                </a:solidFill>
                <a:latin typeface="微软雅黑"/>
              </a:rPr>
              <a:t>三段式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>
                <a:solidFill>
                  <a:srgbClr val="1F2937"/>
                </a:solidFill>
                <a:latin typeface="微软雅黑"/>
              </a:rPr>
              <a:t>· </a:t>
            </a:r>
            <a:r>
              <a:rPr sz="1050" b="1">
                <a:solidFill>
                  <a:srgbClr val="1F2937"/>
                </a:solidFill>
                <a:latin typeface="微软雅黑"/>
              </a:rPr>
              <a:t>触发</a:t>
            </a:r>
            <a:r>
              <a:rPr sz="1050" b="0">
                <a:solidFill>
                  <a:srgbClr val="1F2937"/>
                </a:solidFill>
                <a:latin typeface="微软雅黑"/>
              </a:rPr>
              <a:t>：用户在客户端选定工作区与文档空间，提交待导入文件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>
                <a:solidFill>
                  <a:srgbClr val="1F2937"/>
                </a:solidFill>
                <a:latin typeface="微软雅黑"/>
              </a:rPr>
              <a:t>· </a:t>
            </a:r>
            <a:r>
              <a:rPr sz="1050" b="1">
                <a:solidFill>
                  <a:srgbClr val="1F2937"/>
                </a:solidFill>
                <a:latin typeface="微软雅黑"/>
              </a:rPr>
              <a:t>主消息链</a:t>
            </a:r>
            <a:r>
              <a:rPr sz="1050" b="0">
                <a:solidFill>
                  <a:srgbClr val="1F2937"/>
                </a:solidFill>
                <a:latin typeface="微软雅黑"/>
              </a:rPr>
              <a:t>：校验导入条件 → 登记文档 → 创建版本（来源哈希）→ 解析切块 → 建索引 → 置可用并通知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>
                <a:solidFill>
                  <a:srgbClr val="1F2937"/>
                </a:solidFill>
                <a:latin typeface="微软雅黑"/>
              </a:rPr>
              <a:t>· </a:t>
            </a:r>
            <a:r>
              <a:rPr sz="1050" b="1">
                <a:solidFill>
                  <a:srgbClr val="1F2937"/>
                </a:solidFill>
                <a:latin typeface="微软雅黑"/>
              </a:rPr>
              <a:t>结束标志</a:t>
            </a:r>
            <a:r>
              <a:rPr sz="1050" b="0">
                <a:solidFill>
                  <a:srgbClr val="1F2937"/>
                </a:solidFill>
                <a:latin typeface="微软雅黑"/>
              </a:rPr>
              <a:t>：索引对象进入“可用”状态的那一刻（M24），而不是上传成功的那一刻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3291840"/>
            <a:ext cx="7178040" cy="45720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3291840"/>
            <a:ext cx="6766559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微软雅黑"/>
              </a:rPr>
              <a:t>亮点句：导入成功 ≠ 入库完成；要“进得来、搜得到、引得回”才算数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3950208"/>
            <a:ext cx="7178040" cy="1783080"/>
          </a:xfrm>
          <a:prstGeom prst="rect">
            <a:avLst/>
          </a:prstGeom>
          <a:solidFill>
            <a:srgbClr val="EAF3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3950208"/>
            <a:ext cx="54864" cy="178308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4114800"/>
            <a:ext cx="6720840" cy="14996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F4E78"/>
                </a:solidFill>
                <a:latin typeface="微软雅黑"/>
              </a:rPr>
              <a:t>两条保留的异常 + 两个设计判断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1F2937"/>
                </a:solidFill>
                <a:latin typeface="微软雅黑"/>
              </a:rPr>
              <a:t>· 解析失败 → 已登记但不可检索，转待复核；索引失败 → 可阅读但暂不可检索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1F2937"/>
                </a:solidFill>
                <a:latin typeface="微软雅黑"/>
              </a:rPr>
              <a:t>· 为什么索引单独成对象：失败时才能“允许阅读、限制检索”，而不是整份文档报废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1F2937"/>
                </a:solidFill>
                <a:latin typeface="微软雅黑"/>
              </a:rPr>
              <a:t>· 为什么要版本层：引用要能定位“哪一版的哪一段”，失效要能沿版本传播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5943600"/>
            <a:ext cx="7178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95959"/>
                </a:solidFill>
                <a:latin typeface="微软雅黑"/>
              </a:rPr>
              <a:t>图号：图 2　|　源文件：时序图-数据采集入库-v0.2.puml（M01–M28）</a:t>
            </a:r>
          </a:p>
        </p:txBody>
      </p:sp>
      <p:pic>
        <p:nvPicPr>
          <p:cNvPr id="15" name="Picture 14" descr="时序图-数据采集入库-v0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9991" y="1280160"/>
            <a:ext cx="3416777" cy="50749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909560" y="6492240"/>
            <a:ext cx="39776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95959"/>
                </a:solidFill>
                <a:latin typeface="微软雅黑"/>
              </a:rPr>
              <a:t>图 2　时序图 · 数据采集入库 v0.2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118872"/>
            <a:ext cx="9509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FFFFFF"/>
                </a:solidFill>
                <a:latin typeface="微软雅黑"/>
              </a:rPr>
              <a:t>图 3｜门户认领审核：认领、审核、回写归属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67512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C7DDEC"/>
                </a:solidFill>
                <a:latin typeface="微软雅黑"/>
              </a:rPr>
              <a:t>一次认领要走完“申请 → 审核任务 → 结论 → 回写归属”才算闭环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256032"/>
            <a:ext cx="1005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6EA1C8"/>
                </a:solidFill>
                <a:latin typeface="微软雅黑"/>
              </a:rPr>
              <a:t>08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371600"/>
            <a:ext cx="6583680" cy="1737360"/>
          </a:xfrm>
          <a:prstGeom prst="rect">
            <a:avLst/>
          </a:prstGeom>
          <a:solidFill>
            <a:srgbClr val="EAF3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371600"/>
            <a:ext cx="54864" cy="17373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536192"/>
            <a:ext cx="6126480" cy="1453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F4E78"/>
                </a:solidFill>
                <a:latin typeface="微软雅黑"/>
              </a:rPr>
              <a:t>三段式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0">
                <a:solidFill>
                  <a:srgbClr val="1F2937"/>
                </a:solidFill>
                <a:latin typeface="微软雅黑"/>
              </a:rPr>
              <a:t>· </a:t>
            </a:r>
            <a:r>
              <a:rPr sz="1000" b="1">
                <a:solidFill>
                  <a:srgbClr val="1F2937"/>
                </a:solidFill>
                <a:latin typeface="微软雅黑"/>
              </a:rPr>
              <a:t>触发</a:t>
            </a:r>
            <a:r>
              <a:rPr sz="1000" b="0">
                <a:solidFill>
                  <a:srgbClr val="1F2937"/>
                </a:solidFill>
                <a:latin typeface="微软雅黑"/>
              </a:rPr>
              <a:t>：作者在门户界面看到可展示条目后发起认领，附身份说明或证明材料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0">
                <a:solidFill>
                  <a:srgbClr val="1F2937"/>
                </a:solidFill>
                <a:latin typeface="微软雅黑"/>
              </a:rPr>
              <a:t>· </a:t>
            </a:r>
            <a:r>
              <a:rPr sz="1000" b="1">
                <a:solidFill>
                  <a:srgbClr val="1F2937"/>
                </a:solidFill>
                <a:latin typeface="微软雅黑"/>
              </a:rPr>
              <a:t>主消息链</a:t>
            </a:r>
            <a:r>
              <a:rPr sz="1000" b="0">
                <a:solidFill>
                  <a:srgbClr val="1F2937"/>
                </a:solidFill>
                <a:latin typeface="微软雅黑"/>
              </a:rPr>
              <a:t>：提交申请 → 校验条目可认领性与用户资格 → 创建认领申请 → 生成审核任务并通知审核人 → 读取详情 → 提交结论 → 回写归属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0">
                <a:solidFill>
                  <a:srgbClr val="1F2937"/>
                </a:solidFill>
                <a:latin typeface="微软雅黑"/>
              </a:rPr>
              <a:t>· </a:t>
            </a:r>
            <a:r>
              <a:rPr sz="1000" b="1">
                <a:solidFill>
                  <a:srgbClr val="1F2937"/>
                </a:solidFill>
                <a:latin typeface="微软雅黑"/>
              </a:rPr>
              <a:t>结束标志</a:t>
            </a:r>
            <a:r>
              <a:rPr sz="1000" b="0">
                <a:solidFill>
                  <a:srgbClr val="1F2937"/>
                </a:solidFill>
                <a:latin typeface="微软雅黑"/>
              </a:rPr>
              <a:t>：结论生成并回写，申请进入“通过 / 驳回 / 待补充”；只有审核通过并更新条目归属才闭环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3310128"/>
            <a:ext cx="6583680" cy="45720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3310128"/>
            <a:ext cx="6172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/>
              </a:rPr>
              <a:t>亮点句：四条路径共用同一套对象与状态，不另起炉灶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3968496"/>
            <a:ext cx="6583680" cy="1783080"/>
          </a:xfrm>
          <a:prstGeom prst="rect">
            <a:avLst/>
          </a:prstGeom>
          <a:solidFill>
            <a:srgbClr val="EAF3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3968496"/>
            <a:ext cx="54864" cy="178308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4133087"/>
            <a:ext cx="6126480" cy="14996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F4E78"/>
                </a:solidFill>
                <a:latin typeface="微软雅黑"/>
              </a:rPr>
              <a:t>四条关键路径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1F2937"/>
                </a:solidFill>
                <a:latin typeface="微软雅黑"/>
              </a:rPr>
              <a:t>· 条目不可认领 → 直接拒绝；审核超时 → 提醒复审或升级管理员复核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1F2937"/>
                </a:solidFill>
                <a:latin typeface="微软雅黑"/>
              </a:rPr>
              <a:t>· 证明材料不足 → 生成“待补充”结论，原申请不关闭；审核驳回 → 归属维持原状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1F2937"/>
                </a:solidFill>
                <a:latin typeface="微软雅黑"/>
              </a:rPr>
              <a:t>· 业务约束：同一门户条目同一时刻至多一个生效中的审核结论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5961888"/>
            <a:ext cx="6583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95959"/>
                </a:solidFill>
                <a:latin typeface="微软雅黑"/>
              </a:rPr>
              <a:t>图号：图 3　|　源文件：时序图-门户认领审核-v0.2.puml</a:t>
            </a:r>
          </a:p>
        </p:txBody>
      </p:sp>
      <p:pic>
        <p:nvPicPr>
          <p:cNvPr id="15" name="Picture 14" descr="时序图-门户认领审核-v0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4861" y="1280160"/>
            <a:ext cx="4166956" cy="50749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360920" y="6492240"/>
            <a:ext cx="4434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95959"/>
                </a:solidFill>
                <a:latin typeface="微软雅黑"/>
              </a:rPr>
              <a:t>图 3　时序图 · 门户认领审核 v0.2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118872"/>
            <a:ext cx="9509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FFFFFF"/>
                </a:solidFill>
                <a:latin typeface="微软雅黑"/>
              </a:rPr>
              <a:t>图 4｜检索请求处理：每一句结论都能回到原文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67512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C7DDEC"/>
                </a:solidFill>
                <a:latin typeface="微软雅黑"/>
              </a:rPr>
              <a:t>权限过滤先于检索；问答与摘要还要过证据门控与外发确认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256032"/>
            <a:ext cx="1005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6EA1C8"/>
                </a:solidFill>
                <a:latin typeface="微软雅黑"/>
              </a:rPr>
              <a:t>09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371600"/>
            <a:ext cx="7132320" cy="1737360"/>
          </a:xfrm>
          <a:prstGeom prst="rect">
            <a:avLst/>
          </a:prstGeom>
          <a:solidFill>
            <a:srgbClr val="EAF3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371600"/>
            <a:ext cx="54864" cy="17373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536192"/>
            <a:ext cx="6675120" cy="1453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F4E78"/>
                </a:solidFill>
                <a:latin typeface="微软雅黑"/>
              </a:rPr>
              <a:t>三段式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0">
                <a:solidFill>
                  <a:srgbClr val="1F2937"/>
                </a:solidFill>
                <a:latin typeface="微软雅黑"/>
              </a:rPr>
              <a:t>· </a:t>
            </a:r>
            <a:r>
              <a:rPr sz="1000" b="1">
                <a:solidFill>
                  <a:srgbClr val="1F2937"/>
                </a:solidFill>
                <a:latin typeface="微软雅黑"/>
              </a:rPr>
              <a:t>触发</a:t>
            </a:r>
            <a:r>
              <a:rPr sz="1000" b="0">
                <a:solidFill>
                  <a:srgbClr val="1F2937"/>
                </a:solidFill>
                <a:latin typeface="微软雅黑"/>
              </a:rPr>
              <a:t>：用户输入检索词或问题，并显式选择检索范围（当前文档或多文档集合）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0">
                <a:solidFill>
                  <a:srgbClr val="1F2937"/>
                </a:solidFill>
                <a:latin typeface="微软雅黑"/>
              </a:rPr>
              <a:t>· </a:t>
            </a:r>
            <a:r>
              <a:rPr sz="1000" b="1">
                <a:solidFill>
                  <a:srgbClr val="1F2937"/>
                </a:solidFill>
                <a:latin typeface="微软雅黑"/>
              </a:rPr>
              <a:t>主消息链</a:t>
            </a:r>
            <a:r>
              <a:rPr sz="1000" b="0">
                <a:solidFill>
                  <a:srgbClr val="1F2937"/>
                </a:solidFill>
                <a:latin typeface="微软雅黑"/>
              </a:rPr>
              <a:t>：解析范围 → </a:t>
            </a:r>
            <a:r>
              <a:rPr sz="1000" b="1">
                <a:solidFill>
                  <a:srgbClr val="1F2937"/>
                </a:solidFill>
                <a:latin typeface="微软雅黑"/>
              </a:rPr>
              <a:t>先做权限过滤</a:t>
            </a:r>
            <a:r>
              <a:rPr sz="1000" b="0">
                <a:solidFill>
                  <a:srgbClr val="1F2937"/>
                </a:solidFill>
                <a:latin typeface="微软雅黑"/>
              </a:rPr>
              <a:t> → 检索候选块 → 组装证据 → 普通检索直接返回；问答/摘要生成回答并绑定引用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0">
                <a:solidFill>
                  <a:srgbClr val="1F2937"/>
                </a:solidFill>
                <a:latin typeface="微软雅黑"/>
              </a:rPr>
              <a:t>· </a:t>
            </a:r>
            <a:r>
              <a:rPr sz="1000" b="1">
                <a:solidFill>
                  <a:srgbClr val="1F2937"/>
                </a:solidFill>
                <a:latin typeface="微软雅黑"/>
              </a:rPr>
              <a:t>结束标志</a:t>
            </a:r>
            <a:r>
              <a:rPr sz="1000" b="0">
                <a:solidFill>
                  <a:srgbClr val="1F2937"/>
                </a:solidFill>
                <a:latin typeface="微软雅黑"/>
              </a:rPr>
              <a:t>：回答与引用返回且引用核验通过；否则标记待复核、降级为本地结果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3310128"/>
            <a:ext cx="7132320" cy="45720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3310128"/>
            <a:ext cx="6720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微软雅黑"/>
              </a:rPr>
              <a:t>亮点句：引用须在本次 allow-list 内，并通过“证据 id + 原文片段 + 定位符”校验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3968496"/>
            <a:ext cx="7132320" cy="1737360"/>
          </a:xfrm>
          <a:prstGeom prst="rect">
            <a:avLst/>
          </a:prstGeom>
          <a:solidFill>
            <a:srgbClr val="EAF3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3968496"/>
            <a:ext cx="54864" cy="17373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4133087"/>
            <a:ext cx="6675120" cy="1453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F4E78"/>
                </a:solidFill>
                <a:latin typeface="微软雅黑"/>
              </a:rPr>
              <a:t>会改变业务结论的六条降级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1F2937"/>
                </a:solidFill>
                <a:latin typeface="微软雅黑"/>
              </a:rPr>
              <a:t>· 范围为空（不检索未授权内容）· 来源失效（不生成确定结论）· 证据不合格（本地证据或待复核）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1F2937"/>
                </a:solidFill>
                <a:latin typeface="微软雅黑"/>
              </a:rPr>
              <a:t>· 拒绝外发 / 策略禁云 · 模型失败（降级为检索结果）· 引用无效（禁止显示为已核验答案）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5943600"/>
            <a:ext cx="7132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95959"/>
                </a:solidFill>
                <a:latin typeface="微软雅黑"/>
              </a:rPr>
              <a:t>图号：图 4　|　源文件：时序图-检索请求处理-v0.2.puml</a:t>
            </a:r>
          </a:p>
        </p:txBody>
      </p:sp>
      <p:pic>
        <p:nvPicPr>
          <p:cNvPr id="15" name="Picture 14" descr="时序图-检索请求处理-v0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3034" y="1280160"/>
            <a:ext cx="3499250" cy="50749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818120" y="6492240"/>
            <a:ext cx="4069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95959"/>
                </a:solidFill>
                <a:latin typeface="微软雅黑"/>
              </a:rPr>
              <a:t>图 4　时序图 · 检索请求处理 v0.2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118872"/>
            <a:ext cx="9509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FFFFFF"/>
                </a:solidFill>
                <a:latin typeface="微软雅黑"/>
              </a:rPr>
              <a:t>一致性与结论：9 处修正，4 项遗留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67512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C7DDEC"/>
                </a:solidFill>
                <a:latin typeface="微软雅黑"/>
              </a:rPr>
              <a:t>以对象清单为母版做三向核对，把“合不起来”的风险提前消掉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256032"/>
            <a:ext cx="1005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6EA1C8"/>
                </a:solidFill>
                <a:latin typeface="微软雅黑"/>
              </a:rP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371600"/>
            <a:ext cx="5394960" cy="2103120"/>
          </a:xfrm>
          <a:prstGeom prst="rect">
            <a:avLst/>
          </a:prstGeom>
          <a:solidFill>
            <a:srgbClr val="EAF3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371600"/>
            <a:ext cx="54864" cy="210312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536192"/>
            <a:ext cx="4937760" cy="1819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F4E78"/>
                </a:solidFill>
                <a:latin typeface="微软雅黑"/>
              </a:rPr>
              <a:t>一致性：两轮 9 处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0">
                <a:solidFill>
                  <a:srgbClr val="1F2937"/>
                </a:solidFill>
                <a:latin typeface="微软雅黑"/>
              </a:rPr>
              <a:t>· 第一轮 5 处：解析/索引任务未入图、策略标错、文档集合漏写、数量矛盾、别名 DS 冲突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0">
                <a:solidFill>
                  <a:srgbClr val="1F2937"/>
                </a:solidFill>
                <a:latin typeface="微软雅黑"/>
              </a:rPr>
              <a:t>· 第二轮 4 处：别名 UI 一名两指，文档集合 / 通知 / 文档与笔记的出现强度标得过高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0">
                <a:solidFill>
                  <a:srgbClr val="1F2937"/>
                </a:solidFill>
                <a:latin typeface="微软雅黑"/>
              </a:rPr>
              <a:t>· 结论：21 个类与清单一致；图上每个业务对象都能找到 BO 编号；不存在一名两指</a:t>
            </a:r>
          </a:p>
        </p:txBody>
      </p:sp>
      <p:sp>
        <p:nvSpPr>
          <p:cNvPr id="9" name="Rectangle 8"/>
          <p:cNvSpPr/>
          <p:nvPr/>
        </p:nvSpPr>
        <p:spPr>
          <a:xfrm>
            <a:off x="6144768" y="1371600"/>
            <a:ext cx="5486400" cy="2103120"/>
          </a:xfrm>
          <a:prstGeom prst="rect">
            <a:avLst/>
          </a:prstGeom>
          <a:solidFill>
            <a:srgbClr val="EAF3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44768" y="1371600"/>
            <a:ext cx="54864" cy="210312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82512" y="1536192"/>
            <a:ext cx="5029200" cy="1819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F4E78"/>
                </a:solidFill>
                <a:latin typeface="微软雅黑"/>
              </a:rPr>
              <a:t>遗留项：明确移交设计阶段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0">
                <a:solidFill>
                  <a:srgbClr val="1F2937"/>
                </a:solidFill>
                <a:latin typeface="微软雅黑"/>
              </a:rPr>
              <a:t>· 门户治理簇 4 个对象的上游用例与追踪链尚未建立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0">
                <a:solidFill>
                  <a:srgbClr val="1F2937"/>
                </a:solidFill>
                <a:latin typeface="微软雅黑"/>
              </a:rPr>
              <a:t>· 通知 / 审计事件 / 模型配置的建模深度（扩展视图或设计期类图）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0">
                <a:solidFill>
                  <a:srgbClr val="1F2937"/>
                </a:solidFill>
                <a:latin typeface="微软雅黑"/>
              </a:rPr>
              <a:t>· 索引失效（stale）如何沿“版本 → 索引 → 引用 → 回答”传播；与 SRS 终稿的同步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3794760"/>
            <a:ext cx="11064240" cy="114300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886200"/>
            <a:ext cx="106070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本阶段结论：24 个业务对象　·　21 个核心业务类　·　3 条关键流程　·　9 处一致性修正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7DDEC"/>
                </a:solidFill>
                <a:latin typeface="微软雅黑"/>
              </a:rPr>
              <a:t>下一步：把“什么必须可追溯”这条业务底线带进架构设计——引用、版本、索引失效三者必须在服务划分里被接住。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525780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95959"/>
                </a:solidFill>
                <a:latin typeface="微软雅黑"/>
              </a:rPr>
              <a:t>支撑材料：《01-业务对象清单》《02-关键流程文字脚本》《03-核心业务类候选集》《04-模型一致性检查表》，图件源文件（.puml）随仓库提交。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5870448"/>
            <a:ext cx="11064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F4E78"/>
                </a:solidFill>
                <a:latin typeface="微软雅黑"/>
              </a:rPr>
              <a:t>谢谢，请老师和同学提问　|　第 2 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