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d0afd097ca4fa5" /><Relationship Type="http://schemas.openxmlformats.org/officeDocument/2006/relationships/extended-properties" Target="/docProps/app.xml" Id="Rcfb6e0d31d32416b" /><Relationship Type="http://schemas.openxmlformats.org/officeDocument/2006/relationships/officeDocument" Target="/ppt/presentation.xml" Id="Ra01948e7ae87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b4be98eea4ee4"/>
  </p:sldMasterIdLst>
  <p:notesMasterIdLst>
    <p:notesMasterId xmlns:r="http://schemas.openxmlformats.org/officeDocument/2006/relationships" r:id="R2851b54ff4a141f0"/>
  </p:notesMasterIdLst>
  <p:sldIdLst>
    <p:sldId xmlns:r="http://schemas.openxmlformats.org/officeDocument/2006/relationships" id="256" r:id="Rb0148d33eea6401f"/>
    <p:sldId xmlns:r="http://schemas.openxmlformats.org/officeDocument/2006/relationships" id="257" r:id="R2ad60a1de6d74a26"/>
    <p:sldId xmlns:r="http://schemas.openxmlformats.org/officeDocument/2006/relationships" id="258" r:id="Rbf00cb5325af4123"/>
    <p:sldId xmlns:r="http://schemas.openxmlformats.org/officeDocument/2006/relationships" id="259" r:id="R6af6174d22234ec9"/>
    <p:sldId xmlns:r="http://schemas.openxmlformats.org/officeDocument/2006/relationships" id="260" r:id="R481bf604a5304344"/>
    <p:sldId xmlns:r="http://schemas.openxmlformats.org/officeDocument/2006/relationships" id="261" r:id="R664c00a159844942"/>
    <p:sldId xmlns:r="http://schemas.openxmlformats.org/officeDocument/2006/relationships" id="262" r:id="R53980eb0a5924bb6"/>
    <p:sldId xmlns:r="http://schemas.openxmlformats.org/officeDocument/2006/relationships" id="263" r:id="Re9ba639636e547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2ced25634b4c9a" /><Relationship Type="http://schemas.openxmlformats.org/officeDocument/2006/relationships/slideMaster" Target="/ppt/slideMasters/slideMaster1.xml" Id="Rc2fb4be98eea4ee4" /><Relationship Type="http://schemas.openxmlformats.org/officeDocument/2006/relationships/notesMaster" Target="/ppt/notesMasters/notesMaster1.xml" Id="R2851b54ff4a141f0" /><Relationship Type="http://schemas.openxmlformats.org/officeDocument/2006/relationships/presProps" Target="/ppt/presProps.xml" Id="R181cbcfef4324402" /><Relationship Type="http://schemas.openxmlformats.org/officeDocument/2006/relationships/tableStyles" Target="/ppt/tableStyles.xml" Id="Rd69db394557f41a0" /><Relationship Type="http://schemas.openxmlformats.org/officeDocument/2006/relationships/slide" Target="/ppt/slides/slide1.xml" Id="Rb0148d33eea6401f" /><Relationship Type="http://schemas.openxmlformats.org/officeDocument/2006/relationships/slide" Target="/ppt/slides/slide2.xml" Id="R2ad60a1de6d74a26" /><Relationship Type="http://schemas.openxmlformats.org/officeDocument/2006/relationships/slide" Target="/ppt/slides/slide3.xml" Id="Rbf00cb5325af4123" /><Relationship Type="http://schemas.openxmlformats.org/officeDocument/2006/relationships/slide" Target="/ppt/slides/slide4.xml" Id="R6af6174d22234ec9" /><Relationship Type="http://schemas.openxmlformats.org/officeDocument/2006/relationships/slide" Target="/ppt/slides/slide5.xml" Id="R481bf604a5304344" /><Relationship Type="http://schemas.openxmlformats.org/officeDocument/2006/relationships/slide" Target="/ppt/slides/slide6.xml" Id="R664c00a159844942" /><Relationship Type="http://schemas.openxmlformats.org/officeDocument/2006/relationships/slide" Target="/ppt/slides/slide7.xml" Id="R53980eb0a5924bb6" /><Relationship Type="http://schemas.openxmlformats.org/officeDocument/2006/relationships/slide" Target="/ppt/slides/slide8.xml" Id="Re9ba639636e547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2d563d10441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bdd0cf9564ab9" /><Relationship Type="http://schemas.openxmlformats.org/officeDocument/2006/relationships/notesMaster" Target="/ppt/notesMasters/notesMaster1.xml" Id="R0ddfc3b7ecca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be293a6f04d50" /><Relationship Type="http://schemas.openxmlformats.org/officeDocument/2006/relationships/notesMaster" Target="/ppt/notesMasters/notesMaster1.xml" Id="R67db38fab3b7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8fe49aeaa4584" /><Relationship Type="http://schemas.openxmlformats.org/officeDocument/2006/relationships/notesMaster" Target="/ppt/notesMasters/notesMaster1.xml" Id="R277dec07b1c34d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aaa0c33514eb9" /><Relationship Type="http://schemas.openxmlformats.org/officeDocument/2006/relationships/notesMaster" Target="/ppt/notesMasters/notesMaster1.xml" Id="Rcc92fcef1e3b44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b5b3259884364" /><Relationship Type="http://schemas.openxmlformats.org/officeDocument/2006/relationships/notesMaster" Target="/ppt/notesMasters/notesMaster1.xml" Id="R42b423b84ccb49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e869d72b148ea" /><Relationship Type="http://schemas.openxmlformats.org/officeDocument/2006/relationships/notesMaster" Target="/ppt/notesMasters/notesMaster1.xml" Id="Ra4f2a03203484c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52b127b4284e6f" /><Relationship Type="http://schemas.openxmlformats.org/officeDocument/2006/relationships/notesMaster" Target="/ppt/notesMasters/notesMaster1.xml" Id="Re40040a508bd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03e9facd8a46e0" /><Relationship Type="http://schemas.openxmlformats.org/officeDocument/2006/relationships/notesMaster" Target="/ppt/notesMasters/notesMaster1.xml" Id="Rf8969a7f75f1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首页已补充课程、实践项目、全体成员、分组和协作分工说明。</a:t>
            </a:r>
          </a:p>
          <a:p xmlns:a="http://schemas.openxmlformats.org/drawingml/2006/main">
            <a:r>
              <a:t>当前汇报范围：需求建模成果。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来源：需求建模启动包.md 第 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来源：需求模型-用例图.puml/.png。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来源：需求模型-关键流程.puml/.png；BR11-BR15。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来源：需求模型-领域模型.puml/.png；领域对象与关键关联。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来源：02-SRS-智能阅读器.docx；02-SPEC-智能阅读器.docx。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来源：03-AI使用说明.md；04-修改说明与版本记录.docx；课程提交要求。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c0c84188e4f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075a7168343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cc9ace2594c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8d8d0df4047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6783795e943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139ca28ad44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378E6-7D9C-4DAD-BE47-FC6AF826A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F2B8E8-28F3-452C-82A4-48B5CF1A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A689B9-9787-47AD-91E6-0E507FDFA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C09A07-2268-4879-82D1-E4B16D290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5AA8DF-D610-4BBF-9FFA-9000F5F526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7F7C25-D0F7-4E21-A999-0514B2F96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ACE0B-79C5-4EDF-B519-061D47A5D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EB6E99-3A31-4733-9FBF-3A8A09976F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9295FA-D2EB-40D5-A5F7-A80CAD082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478DAC-587E-44AF-9230-2CACB2843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cf35edd98c407c" /><Relationship Type="http://schemas.openxmlformats.org/officeDocument/2006/relationships/slideLayout" Target="/ppt/slideLayouts/slideLayout1.xml" Id="R1d409986ec864eb0" /><Relationship Type="http://schemas.openxmlformats.org/officeDocument/2006/relationships/slideLayout" Target="/ppt/slideLayouts/slideLayout2.xml" Id="R8f9717407c1d44aa" /><Relationship Type="http://schemas.openxmlformats.org/officeDocument/2006/relationships/slideLayout" Target="/ppt/slideLayouts/slideLayout3.xml" Id="R39e8fbdf61bd41b2" /><Relationship Type="http://schemas.openxmlformats.org/officeDocument/2006/relationships/slideLayout" Target="/ppt/slideLayouts/slideLayout4.xml" Id="R08a53cfb38aa47dd" /><Relationship Type="http://schemas.openxmlformats.org/officeDocument/2006/relationships/slideLayout" Target="/ppt/slideLayouts/slideLayout5.xml" Id="R5a94d2cfd4e44b70" /><Relationship Type="http://schemas.openxmlformats.org/officeDocument/2006/relationships/slideLayout" Target="/ppt/slideLayouts/slideLayout6.xml" Id="Re7d492c015f5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09986ec864eb0"/>
    <p:sldLayoutId xmlns:r="http://schemas.openxmlformats.org/officeDocument/2006/relationships" id="2147483650" r:id="R8f9717407c1d44aa"/>
    <p:sldLayoutId xmlns:r="http://schemas.openxmlformats.org/officeDocument/2006/relationships" id="2147483651" r:id="R39e8fbdf61bd41b2"/>
    <p:sldLayoutId xmlns:r="http://schemas.openxmlformats.org/officeDocument/2006/relationships" id="2147483652" r:id="R08a53cfb38aa47dd"/>
    <p:sldLayoutId xmlns:r="http://schemas.openxmlformats.org/officeDocument/2006/relationships" id="2147483653" r:id="R5a94d2cfd4e44b70"/>
    <p:sldLayoutId xmlns:r="http://schemas.openxmlformats.org/officeDocument/2006/relationships" id="2147483654" r:id="Re7d492c015f5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18c80e44b4d1a" /><Relationship Type="http://schemas.openxmlformats.org/officeDocument/2006/relationships/notesSlide" Target="/ppt/notesSlides/notesSlide1.xml" Id="Rfff23c99ca1d4c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2079b6ca547d1" /><Relationship Type="http://schemas.openxmlformats.org/officeDocument/2006/relationships/notesSlide" Target="/ppt/notesSlides/notesSlide2.xml" Id="Rd572cd013391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2c1821f564289" /><Relationship Type="http://schemas.openxmlformats.org/officeDocument/2006/relationships/image" Target="/ppt/media/image.png" Id="Rf7ca311336284375" /><Relationship Type="http://schemas.openxmlformats.org/officeDocument/2006/relationships/notesSlide" Target="/ppt/notesSlides/notesSlide3.xml" Id="Ref9cd702c91b45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01bb1c7e24828" /><Relationship Type="http://schemas.openxmlformats.org/officeDocument/2006/relationships/image" Target="/ppt/media/image2.png" Id="Rae19cd2b14054a72" /><Relationship Type="http://schemas.openxmlformats.org/officeDocument/2006/relationships/notesSlide" Target="/ppt/notesSlides/notesSlide4.xml" Id="R8e50eb01d5c3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2990c965142d1" /><Relationship Type="http://schemas.openxmlformats.org/officeDocument/2006/relationships/image" Target="/ppt/media/image3.png" Id="R3999bfe843bf49bd" /><Relationship Type="http://schemas.openxmlformats.org/officeDocument/2006/relationships/notesSlide" Target="/ppt/notesSlides/notesSlide5.xml" Id="R89073ec15d0f43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e50b951294be5" /><Relationship Type="http://schemas.openxmlformats.org/officeDocument/2006/relationships/notesSlide" Target="/ppt/notesSlides/notesSlide6.xml" Id="R0490c789d2fc4b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d3b80fae5444b" /><Relationship Type="http://schemas.openxmlformats.org/officeDocument/2006/relationships/notesSlide" Target="/ppt/notesSlides/notesSlide7.xml" Id="R09b87f5c0406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2319ddcbf49b8" /><Relationship Type="http://schemas.openxmlformats.org/officeDocument/2006/relationships/notesSlide" Target="/ppt/notesSlides/notesSlide8.xml" Id="Re6539f3e6f20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14563-00B3-47D9-B7F8-6504E34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solidFill>
              <a:srgbClr val="55A6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EDCB8-26FA-4E05-833A-6279506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软件系统分析与设计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2764E-81C4-47F5-B4F2-569C4AC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9062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实践项目：智能阅读助手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8047B-4848-4E4B-B49A-0641465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内置 AI 助手的文档阅读器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68506-65E6-4490-9DAA-F3592EB8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需求建模成果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96628-75F8-4FCD-935F-620BDE6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项目成员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F6BF7-F412-48B9-A3BA-4DCF70AC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04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第一小组  |  需求调研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04B18-5382-4AEB-BC9D-81250B9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刘泽彤  ·  王嘉诚  ·  罗凤宇  ·  何亚聪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C6F01-591F-42A0-BD56-47AF05B8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第二小组  |  需求建模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D3CD1-7A91-4453-B30F-6864B3A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郭谦  ·  程禹轩  ·  朱紫轩  ·  廖欣豪  ·  汪昊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D5BE1-7570-4E4F-B633-C98FE42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FB5"/>
          </a:solidFill>
          <a:ln xmlns:a="http://schemas.openxmlformats.org/drawingml/2006/main" w="0">
            <a:solidFill>
              <a:srgbClr val="5E9F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E136F-D542-44A2-8625-73248469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分工说明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CCEEF-994C-4804-B2E9-78A497B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两个小组采用不同的大模型和技术路线开展实现，后期再进行模块化合并。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为保证模块能够顺利合并，前期需求调研与需求建模基于共同基础，由两组共同完成。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第一小组负责需求调研，第二小组负责需求建模。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E9EAC-891C-4DD9-98F6-293B59EE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29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rPr>
              <a:t>课堂展示与提交版本  |  2026 年 10 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B0EF-33B2-4A6D-859E-2ABFB4E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从原文阅读到可核验的 AI 笔记</a:t>
            </a:r>
          </a:p>
        </p:txBody>
      </p:sp>
    </p:spTree>
    <p:extLst>
      <p:ext uri="{BB962C8B-B14F-4D97-AF65-F5344CB8AC3E}">
        <p14:creationId xmlns:p14="http://schemas.microsoft.com/office/powerpoint/2010/main" val="1684121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FCCD9-86CB-4CEA-9FA9-904BEE74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建模启动门槛与系统边界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CC6E4-D960-4377-B0C1-B5578F8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模型同时表达用户任务、技术边界和证据链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BC4CF-D829-4975-8356-F677F57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4DCF-1DA8-4EC2-9BF2-87EF089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80E2-857B-44C6-A5F8-A446B83A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已进入模型的能力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1F43E-AFFB-4F51-9F0F-352E8218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个人工作区与文档版本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73945-3F57-4EBD-BA22-1E474712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阅读、目录、全文/语义检索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54CC9-0D6A-4505-AF9F-42E8FC87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摘要、选中文本问答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AEAD-A1BF-4D6B-AD99-6715E0CA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引用核验、笔记与导出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C5180-6C86-49FA-976B-6D0E83EF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权限、外发和失败降级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6B438-C87F-4BA5-B51B-97E3552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9D0C7-F5F5-4FA2-878B-7FC94383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一期边界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1C89C-A72B-492E-97CA-2352117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本地解析与证据层在边界内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B6C71-AA85-4A70-82D1-842F9AB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670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云端模型只接收授权证据包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99834-1CE7-499C-8E59-56360F87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623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跨知识库全局问答暂不承诺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E1707-144F-4FF9-B086-DD5E64A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76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复杂格式采用最佳努力支持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3E1B0-6EA7-41B1-A14E-2F07868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529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完全离线 AI 作为后续验证项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A2A32-6273-4F98-8E75-E4243635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EF927-7310-4DC5-994A-90A2C19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1475696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A4AFE-7274-49CB-8DBE-20ADA68B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用例模型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870A7-68E4-44A9-9D39-4EFD62C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用户任务与系统支撑能力的关系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9BFC-C6A0-43B9-9E50-182825BA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DC27-9F67-4AB7-ACD5-23FEEB1977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a311336284375"/>
          <a:stretch xmlns:a="http://schemas.openxmlformats.org/drawingml/2006/main"/>
        </p:blipFill>
        <p:spPr>
          <a:xfrm xmlns:a="http://schemas.openxmlformats.org/drawingml/2006/main">
            <a:off x="2615419" y="1333500"/>
            <a:ext cx="4008411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51A6E-783A-4483-BB9A-CD8BDE26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619375" cy="3381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452B-9DC3-465A-B9DB-FC45427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重点用例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3F76-7B45-4AD8-81AA-EE46DB9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导入与处理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2D15D-B2B8-4D10-B9A6-4D84123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在线/离线阅读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6AE58-3D09-40DD-BC27-CFE5BD8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814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全文/语义检索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A8C1-473D-4619-896E-4F08C250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摘要与问答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0BBC6-783A-4CC3-8BB2-D7A34295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95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外发确认与引用核验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93316-D31A-4A74-AC6B-DAF5CBD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EF207-8CE7-4D69-B431-9545D40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836075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22337-C20C-47EC-99E1-EC5A050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活动模型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29D6E-24B7-4F73-A7F4-6B56AE5C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导入、问答、引用和降级处在同一条流程上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F149C-6D86-4B7E-B59F-16BE71D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D848-7EB0-4B34-BFB2-2BDACF707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9cd2b14054a72"/>
          <a:stretch xmlns:a="http://schemas.openxmlformats.org/drawingml/2006/main"/>
        </p:blipFill>
        <p:spPr>
          <a:xfrm xmlns:a="http://schemas.openxmlformats.org/drawingml/2006/main">
            <a:off x="2283146" y="1333500"/>
            <a:ext cx="4577707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9E706-20F2-4C42-B30A-1CEEE80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905125" cy="3714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1055F-7225-4EA2-BFF9-2243595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活动图中的门控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9BD9C-EC58-4F7D-BC68-2949281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格式和访问权限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EFA54-C28E-4645-86BE-065CFE8D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OCR / 结构置信度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B5DB2-A96A-4816-8C7F-9D7F639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用户选择文档范围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7F56A-9AF8-41DE-87B1-16EBD89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逐文件确认外发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BB2BF-2EE6-4DCD-BB78-CDB30ED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Claim / Citation 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81C49-8204-40B2-9EDA-9A064425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原文、检索、人工复核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DEF8F-9BCF-498B-8029-FB42974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33FD4-D1A1-474F-A51F-5FA6BD1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726290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84688-715F-4F6B-BF6F-F243C07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领域模型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CA8F-9D78-4B19-9F59-9984EA5B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版本、页面、内容块和回答之间保持可追溯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E769-0B89-4062-8065-E29FF87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FA55E-3158-45B6-8BD9-9A43A0245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9bfe843bf49bd"/>
          <a:stretch xmlns:a="http://schemas.openxmlformats.org/drawingml/2006/main"/>
        </p:blipFill>
        <p:spPr>
          <a:xfrm xmlns:a="http://schemas.openxmlformats.org/drawingml/2006/main">
            <a:off x="3484055" y="1381125"/>
            <a:ext cx="2080640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755C4-CB47-45ED-926F-4D77ACDC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048000" cy="3619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48B61-6B00-4DD3-8394-2F865EC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核心关联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215EA-8591-4FA2-9592-CA7A83DF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Document → Version → Page → 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805A6-36F0-440E-A9AE-9B14B12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33725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Block → Evidence → Citation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C17D-B31D-426B-8D1E-18DFA17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Claim → Citation →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A555D-D0F3-424E-86A2-62479FC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67175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Note 保留版本和原文位置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14304-F276-452A-82FA-0C5F73A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3390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PermissionGrant 过滤文档集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A6F3C-3DE9-4A75-9A3A-258C783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F2867-F1FB-4108-8DFA-47EE70E9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1081344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2BE89-9765-4659-BD48-BCA7054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SRS 与 SPEC 的统一基线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D5E1A-3D2E-40A9-8746-575B849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需求编号、状态和验收条件相互追踪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A14EF-F515-4F5E-ABFF-F33B7CF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9E4A-D972-4AF7-ADBD-6AF63E29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88FDC-86FE-4091-9FC0-758F501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SRS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3628D-94B2-443D-A3C9-28169C32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FR-01 至 FR-11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47A5A-ADEE-4550-83E5-5F03996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813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用例、业务规则、领域对象、非功能需求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20F2-2528-432F-98DB-935A980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2433A-E3A3-48BE-8018-8F228CD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401AD-A659-4901-90CE-A495121F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4 个核心模块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85808-765D-444D-8311-A7175D6B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解析索引、证据门控、问答引用、笔记导出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BB6BD-55B8-454B-8014-37551AF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4D090-98FA-4300-B03C-FC1CAE02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B8040-462F-44C6-9371-8C26358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可复现验证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7511C-181E-4673-9213-2FA7410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权限、引用、拒绝外发、失败重试、源文件差分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35661-2604-4DA5-B535-0DCAD32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rPr>
              <a:t>V0.2 模型 → SRS V1.0 → SPEC V1.0 → 测试与展示证据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F4D42-A468-4B1A-95DE-8132BB3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F1221-04E1-4BE3-AC99-C93719F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1765229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F8AAC-02A4-4AC3-83E8-9FD9B24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建模待验证与评审问题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F5DEB-4B33-4294-A2E5-E171217E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把未决项放在模型边界外，而不是假装已经确定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D8E95-B2D9-45B3-A68F-FBCCAE2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34FBB-E22E-455A-AFD0-A2821F8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E83F4-A714-4DE2-A685-5B9122B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4381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当前不确定性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15FC-D702-4A3B-9772-3DD083B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AA0D3-D16B-4392-9D23-279C8F16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48581-5099-4C1A-92EF-5ABEC8F5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71675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问卷代表性和团队管理员边界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0313B-3D58-4159-B535-E5987B4B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716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补充分层访谈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AEFB-B7EB-4013-9E01-9D675A9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格式范围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82DBE-A76E-4E68-9FDF-F124D1EC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PPTX、XLSX、TXT 及复杂结构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C69B0-7A86-467D-8F86-9CFB8ED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样本矩阵验收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51B1E-87DE-41EE-8AD5-4A0F6E8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性能阈值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B45D3-E20E-470D-823E-328763F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57575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秒流式反馈、1 分钟完成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14BA7-DFBD-4449-AF2E-B035D3C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57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代表性设备压测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82E61-5D38-4D36-8C57-EF8A8E32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引用失效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F8330-90B0-4BC5-A708-6912565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00525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版本变化、撤权、删除传播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C8E25-19AD-4E00-8DFA-581E35C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005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stale 回归测试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0CF1D-101A-4E16-8087-9756828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外部资料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880E6-8BE6-4DE6-BF4A-9FD032C3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43475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权威链接是否一期核心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E22C4-5CB2-4E5A-9891-FDE7E09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434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单独评审范围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4EF10-0F7B-4259-8ED4-F6A8F20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D521D-6445-44F0-968A-95C31D6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129750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7DE86-85AB-47F9-BC40-B77BD06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建模阶段交付与下一步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4E3E3-255B-4133-B84D-490539A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用例图、领域模型、关键活动图及 PUML 源文件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9970-867D-49C4-9C51-72D33F5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需求模型 V0.2、SRS V1.0、核心模块 SPEC 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B95C-3CD5-4D23-8FF8-F883F971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修改说明、版本记录和 AI 使用说明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4397C-3A39-43E2-B932-EB2E1177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统一术语和需求追踪基线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BA32F-631E-4051-A245-F7FCFBD7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5275"/>
          </a:solidFill>
          <a:ln xmlns:a="http://schemas.openxmlformats.org/drawingml/2006/main" w="9525">
            <a:solidFill>
              <a:srgbClr val="5E9F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1ED6E-6244-4BB1-BE7A-014BF9A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A057A-ADA7-4618-BAF5-9B4F736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评审模型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补充时序与状态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进入需求分析和架构设计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7494B-AE1B-418D-B654-5E08B05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rPr>
              <a:t>AI 辅助生成和检查，关键模型关系、数据边界和引用规则由人工确认。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892716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2026-10-13T23:41:03.5110000Z</dcterms:created>
  <dcterms:modified xsi:type="dcterms:W3CDTF">2026-10-13T23:41:03.5110000Z</dcterms:modified>
</coreProperties>
</file>